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5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8.png"/><Relationship Id="rId7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7982"/>
            <a:ext cx="3072384" cy="39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6002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D9692E"/>
                </a:solidFill>
                <a:latin typeface="Calibri"/>
              </a:rPr>
              <a:t>DATA ANALYSIS ESSENTIALS  ·  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B2654"/>
                </a:solidFill>
                <a:latin typeface="Cambria"/>
              </a:rPr>
              <a:t>Smart Retail Sales Analysis</a:t>
            </a:r>
          </a:p>
          <a:p>
            <a:pPr algn="l"/>
            <a:r>
              <a:rPr sz="4200" b="1" i="0">
                <a:solidFill>
                  <a:srgbClr val="1B2654"/>
                </a:solidFill>
                <a:latin typeface="Cambria"/>
              </a:rPr>
              <a:t>&amp;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B6680"/>
                </a:solidFill>
                <a:latin typeface="Calibri"/>
              </a:rPr>
              <a:t>DMart Sales Dataset (2011 – 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A7B1C8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S. Leela Venkata Krishna Reddy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25B11CS861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P. Surya Akhil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K. Surya Raja Mokshagna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25B11CS453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7B1C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27832" cy="4663440"/>
          </a:xfrm>
          <a:prstGeom prst="roundRect">
            <a:avLst>
              <a:gd name="adj" fmla="val 50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78240" y="1417320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Databas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90" y="158877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2640" y="1417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Collect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0" y="2496312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Broom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690" y="266776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92640" y="2496312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Clean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0" y="3575304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MagnifyingGlassChar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690" y="3746754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92640" y="3575304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Analyze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4654296"/>
            <a:ext cx="685800" cy="68580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Ro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9690" y="4825746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0" y="4654296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ookOpen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80260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1999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Lightbulb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19" y="208026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0679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Introduction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MagnifyingGlassChar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80260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9719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System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959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Database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3589020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1999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LaptopCode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019" y="3589020"/>
            <a:ext cx="320040" cy="320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40679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Requirements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21040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ListCheck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358902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89719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Methodology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2959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ode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" y="5097779"/>
            <a:ext cx="320040" cy="320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91640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Implementation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79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571999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FaChartColumn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2019" y="5097779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40679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Results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321040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aTrophy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1060" y="5097779"/>
            <a:ext cx="320040" cy="320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89719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19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01 ·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91672" cy="2011680"/>
          </a:xfrm>
          <a:prstGeom prst="roundRect">
            <a:avLst>
              <a:gd name="adj" fmla="val 818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We analyze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seven years of DMart sales data (2011 – 2017)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to understand what sells, where and when — and train machine learning models to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predict future sales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, helping stores plan stock and make smarter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2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Broo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256532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Clean the data and add useful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hartPi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4256532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21024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Find trends with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37376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Ro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425653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37376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Train models to forecast 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53728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LaptopCod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748" y="4256532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3728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Web app to get sales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02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Why Retail Sales Data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Retail businesses generate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large volumes of sales data every day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 Analyzing it helps understand: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Box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788920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Product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39312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LocationD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791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639312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Regional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9704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CalendarDay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1830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489704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Seasonal demand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0096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543153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68696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5340096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Customer purchasing behavior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1600200"/>
            <a:ext cx="5605272" cy="4572000"/>
          </a:xfrm>
          <a:prstGeom prst="roundRect">
            <a:avLst>
              <a:gd name="adj" fmla="val 3599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THE 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860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Manual analysis of large datasets is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time-consuming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error-prone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4903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OUR 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0624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Use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data analytics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machine learning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to analyze sales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forecast future demand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03 · 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HOW IT WORKS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13969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FileExce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685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01168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Data kept in Excel / CSV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09981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alculat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3697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297180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Analysis done manually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05993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HourglassHalf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9709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93192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Limited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201168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201168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Slow and time-consuming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201168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01168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Hard to handle large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97180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97180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Missing and messy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297180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297180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Trends are hard to spot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393192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393192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No demand forecasting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4272" y="393192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17152" y="393192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Poor inventory planning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074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1B2654"/>
                </a:solidFill>
                <a:latin typeface="Calibri"/>
              </a:rPr>
              <a:t>Our dataset: </a:t>
            </a:r>
            <a:r>
              <a:rPr sz="1900" b="1" i="0">
                <a:solidFill>
                  <a:srgbClr val="1B2654"/>
                </a:solidFill>
                <a:latin typeface="Calibri"/>
              </a:rPr>
              <a:t>18,041 sales records</a:t>
            </a:r>
            <a:r>
              <a:rPr sz="1900" b="0" i="0">
                <a:solidFill>
                  <a:srgbClr val="1B2654"/>
                </a:solidFill>
                <a:latin typeface="Calibri"/>
              </a:rPr>
              <a:t> from </a:t>
            </a:r>
            <a:r>
              <a:rPr sz="1900" b="1" i="0">
                <a:solidFill>
                  <a:srgbClr val="1B2654"/>
                </a:solidFill>
                <a:latin typeface="Calibri"/>
              </a:rPr>
              <a:t>2011 to 2017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03 · 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roo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162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Fix dates, fill gaps, check unusual values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64992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WandMagicSparkl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016252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21024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Add useful columns like year, month and profit margin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81344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37376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MagnifyingGlass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01625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37376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Charts on sales, products, customers and regions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51392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97696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53728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Ro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748" y="2016252"/>
            <a:ext cx="320040" cy="320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53728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Train 3 models and keep the best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BENEFITS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Bo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1208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63040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Faster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47872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Ey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5212080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79392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Clear insights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64224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FaArrowTrendU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5212080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95744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Sales forecasts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97696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180576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7736" y="521208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12096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Better stock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04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Dataset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Order Date / Ship Date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When the order was placed and shipped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Customer Name, Segment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Who bought (Consumer, Corporate, Home Office)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State, City, Region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Where the sale happened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Category, Sub-Category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Product group (3 categories, 17 sub-categories)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Product Name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Item purchased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Ship Mode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How it was shipped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Quantity, Discount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Units sold and discount given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Order value — what we predict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Money earned on the order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32520" y="160020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0" y="201168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Tabl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488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0" y="17830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18,041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4505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sales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15468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0" y="356616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LayerGroup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70332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2640" y="33375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005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70916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0" y="512064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alendarDays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52578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92640" y="48920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2011–17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5595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time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04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A Look Inside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35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F6B39"/>
                </a:solidFill>
                <a:latin typeface="Calibri"/>
              </a:rPr>
              <a:t>COLUMN TYPES  ·  DF.DTYPES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0749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1B2654"/>
                </a:solidFill>
                <a:latin typeface="Courier New"/>
              </a:rPr>
              <a:t>Order ID       text       Category      text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Order Date     date       Sub-Category  text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Customer Name  text       Product Name  text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Country/State  text       Discount      decimal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City/Region    text       Sales         decimal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Segment        text       Profit        decimal</a:t>
            </a:r>
          </a:p>
          <a:p>
            <a:r>
              <a:rPr sz="1200">
                <a:solidFill>
                  <a:srgbClr val="1B2654"/>
                </a:solidFill>
                <a:latin typeface="Courier New"/>
              </a:rPr>
              <a:t>Ship Mode      text       Quantity     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76672" cy="2103120"/>
          </a:xfrm>
          <a:prstGeom prst="roundRect">
            <a:avLst>
              <a:gd name="adj" fmla="val 782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F6B39"/>
                </a:solidFill>
                <a:latin typeface="Calibri"/>
              </a:rPr>
              <a:t>SUMMARY  ·  DF.DESCRIBE()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65192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1B2654"/>
                </a:solidFill>
                <a:latin typeface="Courier New"/>
              </a:rPr>
              <a:t>Orders      : 9,126 unique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Customers   : 1,584 unique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Products    : 1,862 unique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Top buyer   : William Brown (37 orders)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86200"/>
            <a:ext cx="5376672" cy="2286000"/>
          </a:xfrm>
          <a:prstGeom prst="roundRect">
            <a:avLst>
              <a:gd name="adj" fmla="val 71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F6B39"/>
                </a:solidFill>
                <a:latin typeface="Calibri"/>
              </a:rPr>
              <a:t>VALUE RANGES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49651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1B2654"/>
                </a:solidFill>
                <a:latin typeface="Courier New"/>
              </a:rPr>
              <a:t>Dates    : Jan 2011 – Dec 2017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Segments : Consumer, Corporate, Home Office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Regions  : North, South, East, West, Central</a:t>
            </a:r>
          </a:p>
          <a:p>
            <a:r>
              <a:rPr sz="1250">
                <a:solidFill>
                  <a:srgbClr val="1B2654"/>
                </a:solidFill>
                <a:latin typeface="Courier New"/>
              </a:rPr>
              <a:t>Discount : 0% – 85%     Quantity : 1 –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05 ·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What We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Microc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0574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Intel i3+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Processor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Memor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4290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4 GB RAM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Minimum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HardDriv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6636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8006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20 GB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SOFTWARE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628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Window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42316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57800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Windows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Operating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99516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Pytho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423160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26679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Python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Language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6404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Laptop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2423160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95560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Jupyter / Colab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Coding notebook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2628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Tab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794760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57800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Pandas &amp; NumPy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Data handling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99516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hartColum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794760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26679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Matplotlib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Charts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6404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Robo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3794760"/>
            <a:ext cx="274320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195560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Scikit-learn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Machine learning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2628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FaFileExcel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5166360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57800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MS Excel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Dataset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1228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99516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FaFloppyDisk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0" y="5166360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726679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Pickle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Model saving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46404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FaGithub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1200" y="5166360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95560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GitHub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Code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06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FileExce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1" y="1970531"/>
            <a:ext cx="283464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3C7A8"/>
                </a:solidFill>
                <a:latin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E"/>
                </a:solidFill>
                <a:latin typeface="Calibri"/>
              </a:rPr>
              <a:t>Collect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96312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52928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81528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1970531"/>
            <a:ext cx="283464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58768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Load Data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00600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57216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85816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1970531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63056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Explore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04888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61504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90104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Broom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836" y="1970531"/>
            <a:ext cx="28346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67344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Clean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09176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765792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94392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WandMagicSparkle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124" y="1970531"/>
            <a:ext cx="283464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71632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Add Features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565892" y="3447288"/>
            <a:ext cx="274320" cy="603503"/>
          </a:xfrm>
          <a:prstGeom prst="down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65792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94392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hartPi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124" y="4530852"/>
            <a:ext cx="283464" cy="2834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71632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Analyze &amp; Visualize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9409176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461504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90104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Slider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836" y="4530852"/>
            <a:ext cx="283464" cy="2834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67344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0104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Prepare for Model</a:t>
            </a:r>
          </a:p>
        </p:txBody>
      </p:sp>
      <p:sp>
        <p:nvSpPr>
          <p:cNvPr id="49" name="Left Arrow 48"/>
          <p:cNvSpPr/>
          <p:nvPr/>
        </p:nvSpPr>
        <p:spPr>
          <a:xfrm>
            <a:off x="7104888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57216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85816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FaScissor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7548" y="4530852"/>
            <a:ext cx="283464" cy="2834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63056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5816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Split 80 / 20</a:t>
            </a:r>
          </a:p>
        </p:txBody>
      </p:sp>
      <p:sp>
        <p:nvSpPr>
          <p:cNvPr id="55" name="Left Arrow 54"/>
          <p:cNvSpPr/>
          <p:nvPr/>
        </p:nvSpPr>
        <p:spPr>
          <a:xfrm>
            <a:off x="4800600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852928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081528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FaRobo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3260" y="4530852"/>
            <a:ext cx="283464" cy="2834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58768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81528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Train Models</a:t>
            </a:r>
          </a:p>
        </p:txBody>
      </p:sp>
      <p:sp>
        <p:nvSpPr>
          <p:cNvPr id="61" name="Left Arrow 60"/>
          <p:cNvSpPr/>
          <p:nvPr/>
        </p:nvSpPr>
        <p:spPr>
          <a:xfrm>
            <a:off x="2496312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48640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FaTroph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71" y="4530852"/>
            <a:ext cx="283464" cy="28346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554480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3C7A8"/>
                </a:solidFill>
                <a:latin typeface="Cambria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E"/>
                </a:solidFill>
                <a:latin typeface="Calibri"/>
              </a:rPr>
              <a:t>Evaluate &amp; Save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Loading &amp; Exploring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852160" cy="2377440"/>
          </a:xfrm>
          <a:prstGeom prst="roundRect">
            <a:avLst>
              <a:gd name="adj" fmla="val 6923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440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C792EA"/>
                </a:solidFill>
                <a:latin typeface="Courier New"/>
              </a:rPr>
              <a:t>import</a:t>
            </a:r>
            <a:r>
              <a:rPr sz="1300">
                <a:solidFill>
                  <a:srgbClr val="E6EDF3"/>
                </a:solidFill>
                <a:latin typeface="Courier New"/>
              </a:rPr>
              <a:t> pandas </a:t>
            </a:r>
            <a:r>
              <a:rPr sz="1300">
                <a:solidFill>
                  <a:srgbClr val="C792EA"/>
                </a:solidFill>
                <a:latin typeface="Courier New"/>
              </a:rPr>
              <a:t>as</a:t>
            </a:r>
            <a:r>
              <a:rPr sz="1300">
                <a:solidFill>
                  <a:srgbClr val="E6EDF3"/>
                </a:solidFill>
                <a:latin typeface="Courier New"/>
              </a:rPr>
              <a:t> pd</a:t>
            </a:r>
          </a:p>
          <a:p>
            <a:r>
              <a:rPr sz="780">
                <a:latin typeface="Courier New"/>
              </a:rPr>
              <a:t> 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 </a:t>
            </a:r>
            <a:r>
              <a:rPr sz="1300">
                <a:solidFill>
                  <a:srgbClr val="89DDFF"/>
                </a:solidFill>
                <a:latin typeface="Courier New"/>
              </a:rPr>
              <a:t>=</a:t>
            </a:r>
            <a:r>
              <a:rPr sz="1300">
                <a:solidFill>
                  <a:srgbClr val="E6EDF3"/>
                </a:solidFill>
                <a:latin typeface="Courier New"/>
              </a:rPr>
              <a:t> pd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read_excel</a:t>
            </a:r>
            <a:r>
              <a:rPr sz="1300">
                <a:solidFill>
                  <a:srgbClr val="B8C2CC"/>
                </a:solidFill>
                <a:latin typeface="Courier New"/>
              </a:rPr>
              <a:t>(</a:t>
            </a:r>
            <a:r>
              <a:rPr sz="1300">
                <a:solidFill>
                  <a:srgbClr val="C3E88D"/>
                </a:solidFill>
                <a:latin typeface="Courier New"/>
              </a:rPr>
              <a:t>"DMart_All_Data_2011_2017.xlsx"</a:t>
            </a:r>
            <a:r>
              <a:rPr sz="1300">
                <a:solidFill>
                  <a:srgbClr val="B8C2CC"/>
                </a:solidFill>
                <a:latin typeface="Courier New"/>
              </a:rPr>
              <a:t>,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                   sheet_name</a:t>
            </a:r>
            <a:r>
              <a:rPr sz="1300">
                <a:solidFill>
                  <a:srgbClr val="89DDFF"/>
                </a:solidFill>
                <a:latin typeface="Courier New"/>
              </a:rPr>
              <a:t>=</a:t>
            </a:r>
            <a:r>
              <a:rPr sz="1300">
                <a:solidFill>
                  <a:srgbClr val="C3E88D"/>
                </a:solidFill>
                <a:latin typeface="Courier New"/>
              </a:rPr>
              <a:t>"All Data"</a:t>
            </a:r>
            <a:r>
              <a:rPr sz="13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shape            </a:t>
            </a:r>
            <a:r>
              <a:rPr sz="1300">
                <a:solidFill>
                  <a:srgbClr val="7F8C9D"/>
                </a:solidFill>
                <a:latin typeface="Courier New"/>
              </a:rPr>
              <a:t># (18041, 23)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isnull</a:t>
            </a:r>
            <a:r>
              <a:rPr sz="1300">
                <a:solidFill>
                  <a:srgbClr val="B8C2CC"/>
                </a:solidFill>
                <a:latin typeface="Courier New"/>
              </a:rPr>
              <a:t>()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sum</a:t>
            </a:r>
            <a:r>
              <a:rPr sz="1300">
                <a:solidFill>
                  <a:srgbClr val="B8C2CC"/>
                </a:solidFill>
                <a:latin typeface="Courier New"/>
              </a:rPr>
              <a:t>()</a:t>
            </a:r>
            <a:r>
              <a:rPr sz="1300">
                <a:solidFill>
                  <a:srgbClr val="E6EDF3"/>
                </a:solidFill>
                <a:latin typeface="Courier New"/>
              </a:rPr>
              <a:t>   </a:t>
            </a:r>
            <a:r>
              <a:rPr sz="1300">
                <a:solidFill>
                  <a:srgbClr val="7F8C9D"/>
                </a:solidFill>
                <a:latin typeface="Courier New"/>
              </a:rPr>
              <a:t># count empty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852160" cy="2011680"/>
          </a:xfrm>
          <a:prstGeom prst="roundRect">
            <a:avLst>
              <a:gd name="adj" fmla="val 8181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36168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WHAT WE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0060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18,041 rows and 23 columns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Sales, profit, quantity and discount are 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600200"/>
            <a:ext cx="5010912" cy="4572000"/>
          </a:xfrm>
          <a:prstGeom prst="roundRect">
            <a:avLst>
              <a:gd name="adj" fmla="val 35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F6B39"/>
                </a:solidFill>
                <a:latin typeface="Calibri"/>
              </a:rPr>
              <a:t>EMPTY CELLS  ·  DF.ISNULL().SUM()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57400"/>
            <a:ext cx="459943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1B2654"/>
                </a:solidFill>
                <a:latin typeface="Courier New"/>
              </a:rPr>
              <a:t>Order ID       0    Discount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Order Date     0    Sales 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Customer Name  0    Profit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Country        0    Quantity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State          0    Feedback?   9994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City           0    Source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Region         0    Row ID    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Segment        0    Ship Date 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Ship Mode      0    Customer ID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Category       0    Postal Code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Sub-Category   0    Product ID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Product Name  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Cleaning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309360" cy="3108960"/>
          </a:xfrm>
          <a:prstGeom prst="roundRect">
            <a:avLst>
              <a:gd name="adj" fmla="val 5294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897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"Order Date"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pd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to_datetime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"Order Date"</a:t>
            </a:r>
            <a:r>
              <a:rPr sz="1200">
                <a:solidFill>
                  <a:srgbClr val="B8C2CC"/>
                </a:solidFill>
                <a:latin typeface="Courier New"/>
              </a:rPr>
              <a:t>],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                                  errors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C3E88D"/>
                </a:solidFill>
                <a:latin typeface="Courier New"/>
              </a:rPr>
              <a:t>"coerce"</a:t>
            </a:r>
            <a:r>
              <a:rPr sz="12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mode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mode</a:t>
            </a:r>
            <a:r>
              <a:rPr sz="120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fillna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mode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F78C6C"/>
                </a:solidFill>
                <a:latin typeface="Courier New"/>
              </a:rPr>
              <a:t>0</a:t>
            </a:r>
            <a:r>
              <a:rPr sz="1200">
                <a:solidFill>
                  <a:srgbClr val="B8C2CC"/>
                </a:solidFill>
                <a:latin typeface="Courier New"/>
              </a:rPr>
              <a:t>])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median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median</a:t>
            </a:r>
            <a:r>
              <a:rPr sz="120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fillna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median</a:t>
            </a:r>
            <a:r>
              <a:rPr sz="12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plt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boxplot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dropna</a:t>
            </a:r>
            <a:r>
              <a:rPr sz="1200">
                <a:solidFill>
                  <a:srgbClr val="B8C2CC"/>
                </a:solidFill>
                <a:latin typeface="Courier New"/>
              </a:rPr>
              <a:t>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3108960" cy="12344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5280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CalendarDay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1782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5029200"/>
            <a:ext cx="2011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Dates fixed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Text turned into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937760"/>
            <a:ext cx="3108960" cy="12344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31920" y="5280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PuzzlePiec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541782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3440" y="5029200"/>
            <a:ext cx="2011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Gaps filled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No blanks in key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600200"/>
            <a:ext cx="4553712" cy="4572000"/>
          </a:xfrm>
          <a:prstGeom prst="roundRect">
            <a:avLst>
              <a:gd name="adj" fmla="val 361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1737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654"/>
                </a:solidFill>
                <a:latin typeface="Calibri"/>
              </a:rPr>
              <a:t>Box plot of Sales</a:t>
            </a:r>
          </a:p>
        </p:txBody>
      </p:sp>
      <p:pic>
        <p:nvPicPr>
          <p:cNvPr id="24" name="Picture 23" descr="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11549"/>
            <a:ext cx="4279392" cy="30006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0" y="525780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Maximum sales: 22,638.48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Adding Useful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B6680"/>
                </a:solidFill>
                <a:latin typeface="Calibri"/>
              </a:rPr>
              <a:t>New columns created from the existing data (Step 5 in the notebook)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CalendarDay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519172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Year · Month · Day ·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Taken from Order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3712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Tru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1" y="2519172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Shipping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Ship Date − Order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02751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Percen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2519172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2751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Has Discount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True if Discount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SackDoll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4622292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4672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Profit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Profit ÷ Sales ×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53712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Ta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731" y="4622292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53712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Discount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Sales × Discount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02751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LayerGro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772" y="4622292"/>
            <a:ext cx="320040" cy="3200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02751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Order Size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1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Low ≤ 100 · Medium ≤ 500 · High &gt; 500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Preparing Data for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Ta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162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Text →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9 category columns converted to numbers (LabelEncoder)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21024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Scisso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016252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21024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Remove extra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Names, dates, source, feedback and profit columns dropped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7376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Slid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016252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7376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Quantity, discount, date and shipping columns scaled (StandardScaler)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53728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Scisso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48" y="2016252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53728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Split the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80% training, 20% testing (random_state = 42)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14,432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rows to 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19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3,609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rows to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59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input columns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Training &amp; Saving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583680" cy="4572000"/>
          </a:xfrm>
          <a:prstGeom prst="roundRect">
            <a:avLst>
              <a:gd name="adj" fmla="val 3599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6172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sklearn.linear_model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LinearRegression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LinearRegression</a:t>
            </a:r>
            <a:r>
              <a:rPr sz="115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sklearn.tree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DecisionTreeRegressor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model_dt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DecisionTreeRegressor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random_state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42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model_dt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sklearn.ensemble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RandomForestRegressor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model_rf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RandomForestRegressor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n_estimators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100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                                 random_state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42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model_rf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pickle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with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82AAFF"/>
                </a:solidFill>
                <a:latin typeface="Courier New"/>
              </a:rPr>
              <a:t>open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C3E88D"/>
                </a:solidFill>
                <a:latin typeface="Courier New"/>
              </a:rPr>
              <a:t>"dmart_sales_model.pkl"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C3E88D"/>
                </a:solidFill>
                <a:latin typeface="Courier New"/>
              </a:rPr>
              <a:t>"wb"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C792EA"/>
                </a:solidFill>
                <a:latin typeface="Courier New"/>
              </a:rPr>
              <a:t>as</a:t>
            </a:r>
            <a:r>
              <a:rPr sz="1150">
                <a:solidFill>
                  <a:srgbClr val="E6EDF3"/>
                </a:solidFill>
                <a:latin typeface="Courier New"/>
              </a:rPr>
              <a:t> file</a:t>
            </a:r>
            <a:r>
              <a:rPr sz="1150">
                <a:solidFill>
                  <a:srgbClr val="B8C2CC"/>
                </a:solidFill>
                <a:latin typeface="Courier New"/>
              </a:rPr>
              <a:t>: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    pickle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dump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model_rf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file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43800" y="1851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Chart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88819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320" y="169164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Linear Regression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LinearRegression()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78892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43800" y="3040379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List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17753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75320" y="288036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Decision Tree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random_state = 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977639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43800" y="42291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Troph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36626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5320" y="4069079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Random Forest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n_estimators = 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516636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43800" y="54178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FloppyDi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554980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5320" y="525780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Saved model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dmart_sales_model.pkl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Sales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SackDollar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1" y="2125979"/>
            <a:ext cx="283464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4,645,683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Total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93592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ArrowTrendUp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2125979"/>
            <a:ext cx="283464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25112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569,637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Total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9944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CartShopping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2125979"/>
            <a:ext cx="283464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1464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257.51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Average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26296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BoxOpen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2125979"/>
            <a:ext cx="283464" cy="2834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57816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Most common quantity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6858000" cy="301752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2911" y="3246120"/>
            <a:ext cx="3669457" cy="28346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635240" y="3154680"/>
            <a:ext cx="4005072" cy="3017520"/>
          </a:xfrm>
          <a:prstGeom prst="roundRect">
            <a:avLst>
              <a:gd name="adj" fmla="val 5454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3355848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794760"/>
            <a:ext cx="345643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Most orders are small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A few big orders push totals up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Orders range from 0.44 to 22,638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Sales and Profit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les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398" y="1645920"/>
            <a:ext cx="3921162" cy="3291840"/>
          </a:xfrm>
          <a:prstGeom prst="rect">
            <a:avLst/>
          </a:prstGeom>
        </p:spPr>
      </p:pic>
      <p:pic>
        <p:nvPicPr>
          <p:cNvPr id="11" name="Picture 10" descr="profit_y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56" y="1645920"/>
            <a:ext cx="4128631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1" i="0">
                <a:solidFill>
                  <a:srgbClr val="1B2654"/>
                </a:solidFill>
                <a:latin typeface="Calibri"/>
              </a:rPr>
              <a:t>2014 was the best year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— sales 1,239,278 and profit 134,874. Sales dipped in 2015, then grew again.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Which Products Sell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749039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56616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4" y="1645920"/>
            <a:ext cx="3401850" cy="3291840"/>
          </a:xfrm>
          <a:prstGeom prst="rect">
            <a:avLst/>
          </a:prstGeom>
        </p:spPr>
      </p:pic>
      <p:pic>
        <p:nvPicPr>
          <p:cNvPr id="11" name="Picture 10" descr="sales_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734502"/>
            <a:ext cx="3291840" cy="311467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0" y="1554480"/>
          <a:ext cx="34107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1,722,169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254,009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Office Supplies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1,542,705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247,443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1,380,809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68,185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0" y="3703320"/>
            <a:ext cx="341071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Most ordered: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Binders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(2,582),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Art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(1,948),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Storage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(1,897)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Office Supplies are ordered most (62.7%), but </a:t>
            </a:r>
            <a:r>
              <a:rPr sz="1500" b="1" i="0">
                <a:solidFill>
                  <a:srgbClr val="1B2654"/>
                </a:solidFill>
                <a:latin typeface="Calibri"/>
              </a:rPr>
              <a:t>Technology brings the most sales and profit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Who Buys and Where?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402336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393192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g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53" y="1645920"/>
            <a:ext cx="3630332" cy="3291840"/>
          </a:xfrm>
          <a:prstGeom prst="rect">
            <a:avLst/>
          </a:prstGeom>
        </p:spPr>
      </p:pic>
      <p:pic>
        <p:nvPicPr>
          <p:cNvPr id="11" name="Picture 10" descr="sales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2915"/>
            <a:ext cx="3657600" cy="3117849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869680" y="1554480"/>
          <a:ext cx="27706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E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E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197,342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108,418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100,914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91,523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71,439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1" i="0">
                <a:solidFill>
                  <a:srgbClr val="1B2654"/>
                </a:solidFill>
                <a:latin typeface="Calibri"/>
              </a:rPr>
              <a:t>Consumers place over half of all orders.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The </a:t>
            </a:r>
            <a:r>
              <a:rPr sz="1500" b="1" i="0">
                <a:solidFill>
                  <a:srgbClr val="1B2654"/>
                </a:solidFill>
                <a:latin typeface="Calibri"/>
              </a:rPr>
              <a:t>Central region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brings in the most sales and profit.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Do Discounts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3566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Avg. 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65.33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74.24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53.30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24.43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−41.21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−88.56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−225.14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−93.85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43400" y="1554480"/>
          <a:ext cx="3566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Avg. 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−276.70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−102.07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−89.29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−375.71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−107.48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−102.19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−1,925.00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80"/>
                </a:solidFill>
                <a:latin typeface="Calibri"/>
              </a:rPr>
              <a:t>Output of df.groupby("Discount")["Profit"].mean()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10712" cy="2194560"/>
          </a:xfrm>
          <a:prstGeom prst="roundRect">
            <a:avLst>
              <a:gd name="adj" fmla="val 75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41071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497F"/>
                </a:solidFill>
                <a:latin typeface="Cambria"/>
              </a:rPr>
              <a:t>≤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3410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654"/>
                </a:solidFill>
                <a:latin typeface="Calibri"/>
              </a:rPr>
              <a:t>discount → still profitable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977639"/>
            <a:ext cx="3410712" cy="2194560"/>
          </a:xfrm>
          <a:prstGeom prst="roundRect">
            <a:avLst>
              <a:gd name="adj" fmla="val 75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41071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D9692E"/>
                </a:solidFill>
                <a:latin typeface="Cambria"/>
              </a:rPr>
              <a:t>&gt;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257800"/>
            <a:ext cx="3410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654"/>
                </a:solidFill>
                <a:latin typeface="Calibri"/>
              </a:rPr>
              <a:t>discount → loss on average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Bigger Baskets, Bigger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760720" cy="4617720"/>
          </a:xfrm>
          <a:prstGeom prst="roundRect">
            <a:avLst>
              <a:gd name="adj" fmla="val 356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ty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3748"/>
            <a:ext cx="5486400" cy="4119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1600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92E"/>
                </a:solidFill>
                <a:latin typeface="Calibri"/>
              </a:rPr>
              <a:t>SALES BY REGION AND CATEGORY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2011680"/>
          <a:ext cx="50566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Office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Tech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535,711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609,594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671,187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208,291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205,516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264,974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136,742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176,786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202,451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247,452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329,955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331,565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252,613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220,853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251,992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0" y="4983480"/>
            <a:ext cx="5056632" cy="11887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518464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23560"/>
            <a:ext cx="45079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More items per order = higher order value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Top 10 Products by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786384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Canon imageCLASS 2200 Advanced Copier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61,599.82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Nokia Smart Phone, Full Size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30,645.00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Fellowes PB500 Electric Punch Plastic Comb Binding Machine with Manual Bind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27,453.38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Cisco TelePresence System EX90 Videoconferencing Unit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22,638.48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HON 5400 Series Task Chairs for Big and Tall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21,870.58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DocuBind TL300 Electric Binding System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19,823.48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Ibimaster 500 Manual ProClick Binding System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19,024.50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Hewlett Packard LaserJet 3310 Copier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18,839.69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HP Designjet T520 Inkjet Large Format Printer - 24" Color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18,374.90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DocuBind P400 Electric Binding System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17,965.07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41080" y="1554480"/>
            <a:ext cx="2999232" cy="4617720"/>
          </a:xfrm>
          <a:prstGeom prst="roundRect">
            <a:avLst>
              <a:gd name="adj" fmla="val 5487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299923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D9692E"/>
                </a:solidFill>
                <a:latin typeface="Cambria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2004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B2654"/>
                </a:solidFill>
                <a:latin typeface="Calibri"/>
              </a:rPr>
              <a:t>The Canon copier sold double the next best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480560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B6680"/>
                </a:solidFill>
                <a:latin typeface="Calibri"/>
              </a:rPr>
              <a:t>Office machines and tech items fill the top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Which Model Predicts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87451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hartLin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39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Linear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267.69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0.21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1999" y="187451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ListChe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19" y="2034539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1999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137.39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0.14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21040" y="1874519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Troph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34539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108.41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92E"/>
                </a:solidFill>
                <a:latin typeface="Calibri"/>
              </a:rPr>
              <a:t>★ BEST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E"/>
                </a:solidFill>
                <a:latin typeface="Calibri"/>
              </a:rPr>
              <a:t>Random Forest wins</a:t>
            </a:r>
            <a:r>
              <a:rPr sz="1600" b="0" i="0">
                <a:solidFill>
                  <a:srgbClr val="FFFFFE"/>
                </a:solidFill>
                <a:latin typeface="Calibri"/>
              </a:rPr>
              <a:t> — lowest error and highest score. Saved as dmart_sales_model.pkl for predictions.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09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alendarDays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was the best sales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182880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BoxesStacked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6596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earns the most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LocationDo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Central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7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is the top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47472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89120" y="370332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Percent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840480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89120" y="4343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≤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5487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discount keeps orders profitable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7086600" cy="7772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B2654"/>
                </a:solidFill>
                <a:latin typeface="Calibri"/>
              </a:rPr>
              <a:t>Best model: </a:t>
            </a:r>
            <a:r>
              <a:rPr sz="1600" b="1" i="0">
                <a:solidFill>
                  <a:srgbClr val="1B2654"/>
                </a:solidFill>
                <a:latin typeface="Calibri"/>
              </a:rPr>
              <a:t>Random Forest</a:t>
            </a:r>
            <a:r>
              <a:rPr sz="1600" b="0" i="0">
                <a:solidFill>
                  <a:srgbClr val="1B2654"/>
                </a:solidFill>
                <a:latin typeface="Calibri"/>
              </a:rPr>
              <a:t>, saved for sales prediction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600200"/>
            <a:ext cx="3776472" cy="4572000"/>
          </a:xfrm>
          <a:prstGeom prst="roundRect">
            <a:avLst>
              <a:gd name="adj" fmla="val 4358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3C7A8"/>
                </a:solidFill>
                <a:latin typeface="Calibri"/>
              </a:rPr>
              <a:t>DEPLOYMENT</a:t>
            </a:r>
          </a:p>
        </p:txBody>
      </p:sp>
      <p:sp>
        <p:nvSpPr>
          <p:cNvPr id="32" name="Oval 31"/>
          <p:cNvSpPr/>
          <p:nvPr/>
        </p:nvSpPr>
        <p:spPr>
          <a:xfrm>
            <a:off x="9208008" y="2514600"/>
            <a:ext cx="1097280" cy="10972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LaptopCod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28" y="2788920"/>
            <a:ext cx="548640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38160" y="3840480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E"/>
                </a:solidFill>
                <a:latin typeface="Cambria"/>
              </a:rPr>
              <a:t>Web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434840"/>
            <a:ext cx="295351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E"/>
                </a:solidFill>
                <a:latin typeface="Calibri"/>
              </a:rPr>
              <a:t>Users enter retail data and get demand predictions from the trained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53128" y="91440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999462"/>
            <a:ext cx="3072384" cy="39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03120"/>
            <a:ext cx="110916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1B2654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9692E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B6680"/>
                </a:solidFill>
                <a:latin typeface="Calibri"/>
              </a:rPr>
              <a:t>S. Leela Venkata Krishna Reddy   ·   P. Surya Akhil   ·   K. Surya Raja Mokshagna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A7B1C8"/>
                </a:solidFill>
                <a:latin typeface="Calibri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1930</Words>
  <Application>Microsoft Office PowerPoint</Application>
  <PresentationFormat>Widescreen</PresentationFormat>
  <Paragraphs>529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AKHIL</dc:creator>
  <cp:keywords/>
  <dc:description>generated using python-pptx</dc:description>
  <cp:lastModifiedBy>SURYA AKHIL</cp:lastModifiedBy>
  <cp:revision>3</cp:revision>
  <dcterms:created xsi:type="dcterms:W3CDTF">2013-01-27T09:14:16Z</dcterms:created>
  <dcterms:modified xsi:type="dcterms:W3CDTF">2026-10-07T10:17:38Z</dcterms:modified>
  <cp:category/>
</cp:coreProperties>
</file>